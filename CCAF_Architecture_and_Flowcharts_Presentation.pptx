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291840" cy="365760"/>
          </a:xfrm>
          <a:prstGeom prst="roundRect">
            <a:avLst/>
          </a:prstGeom>
          <a:solidFill>
            <a:srgbClr val="0284C7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RESEARCH ARCHITECTURE &amp; FLOWCHARTS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Conformal-Controlled Adaptive Filtering (CCAF)</a:t>
            </a:r>
          </a:p>
          <a:p>
            <a:pPr>
              <a:spcBef>
                <a:spcPts val="800"/>
              </a:spcBef>
              <a:defRPr sz="1600">
                <a:solidFill>
                  <a:srgbClr val="00E5FF"/>
                </a:solidFill>
              </a:defRPr>
            </a:pPr>
            <a:r>
              <a:t>Finite-Sample Distribution-Free Uncertainty Quantification with Dead-Band False-Alarm Suppression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Mathematical Flowcharts, Closed-Loop System Architectures, and Multi-Domain Validation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Closed-Loop System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Full signal-flow block diagram combining strictly causal scale-normalized Adaptive Conformal Inference (ACI) with Normalized LMS weight recursion and non-linear dead-band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Procedural Execution Flowchart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Step-by-step algorithmic decision logic detailing sample ingestion, nonconformity scoring, quantile tracking, conditional dead-band branching, and zero-tax steady-state locking.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Multi-Domain Pipeline &amp; DOI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Validated on Acoustic Echo Cancellation (Aachen AIR &amp; Microsoft Challenge), Biomedical ECG (MIT-BIH), and Neurological EEG (EEGdenoiseNet). Minted Zenodo DOI: 10.5281/zenodo.23609984.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IEEE TRANSACTIONS ON SIGNAL PROCESSING MANUSCRIPT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Closed-Loop System Architecture of Proposed CCAF-DB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PRIMARY ADAPTIVE FILTER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00584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Adaptive FIR Filter Core</a:t>
            </a:r>
            <a:br/>
            <a:r>
              <a:t>Filter Weights w(n) ∈ R^M</a:t>
            </a:r>
            <a:br/>
            <a:r>
              <a:t>Point Estimate: y_hat(n) = w(n)^T u(n)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926080"/>
            <a:ext cx="731520" cy="731520"/>
          </a:xfrm>
          <a:prstGeom prst="ellipse">
            <a:avLst/>
          </a:prstGeom>
          <a:solidFill>
            <a:srgbClr val="16243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Σ</a:t>
            </a:r>
            <a:br/>
            <a:r>
              <a:t>(-)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118872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</a:defRPr>
            </a:pPr>
            <a:r>
              <a:t>Normalized LMS Weight Recursion</a:t>
            </a:r>
            <a:br/>
            <a:r>
              <a:t>w(n+1) = w(n) + μ(n) e(n) u(n) / (ε + ||u(n)||^2)</a:t>
            </a:r>
            <a:br/>
            <a:r>
              <a:t>Governed by Adaptive Step-Size μ(n)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3291840" cy="82296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Cleaned Output / Residual Error</a:t>
            </a:r>
            <a:br/>
            <a:r>
              <a:t>e(n) = d(n) - y_hat(n)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CONFORMAL UNCERTAINTY ENGINE (ACI)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45720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1. Causal Error Variance Scale: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s^2(n-1) = λ s^2(n-2) + (1 - λ) e^2(n-1)</a:t>
            </a:r>
            <a:br/>
            <a:r>
              <a:t>(Strictly causal scale: prevents outlier self-normalization)</a:t>
            </a:r>
          </a:p>
          <a:p>
            <a:pPr>
              <a:spcBef>
                <a:spcPts val="800"/>
              </a:spcBef>
              <a:defRPr sz="1000" b="1">
                <a:solidFill>
                  <a:srgbClr val="00E5FF"/>
                </a:solidFill>
              </a:defRPr>
            </a:pPr>
            <a:r>
              <a:t>2. Scale-Normalized Nonconformity: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r(n) = |e(n)| / (s(n-1) + ε)</a:t>
            </a:r>
            <a:br/>
            <a:r>
              <a:t>Evaluated against empirical normalized quantile q_norm</a:t>
            </a:r>
          </a:p>
          <a:p>
            <a:pPr>
              <a:spcBef>
                <a:spcPts val="800"/>
              </a:spcBef>
              <a:defRPr sz="1000" b="1">
                <a:solidFill>
                  <a:srgbClr val="00E5FF"/>
                </a:solidFill>
              </a:defRPr>
            </a:pPr>
            <a:r>
              <a:t>3. Conformal Miss Indicator: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m(n) = 1 if r(n) &gt; q_norm(n), else 0</a:t>
            </a:r>
            <a:br/>
            <a:r>
              <a:t>(Distribution-free Bernoulli indicator)</a:t>
            </a:r>
          </a:p>
          <a:p>
            <a:pPr>
              <a:spcBef>
                <a:spcPts val="800"/>
              </a:spcBef>
              <a:defRPr sz="1000" b="1">
                <a:solidFill>
                  <a:srgbClr val="00E5FF"/>
                </a:solidFill>
              </a:defRPr>
            </a:pPr>
            <a:r>
              <a:t>4. Online ACI Quantile Recursion: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a_{n+1} = clip(a_n + γ (α - m(n)), 0.001, 0.999)</a:t>
            </a:r>
            <a:br/>
            <a:r>
              <a:t>Guarantees exact 1-α coverage across arbitrary drifts!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DEAD-BAND STEP-SIZE GOVERNOR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1. Tracking Deficit Metric: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Δ_n = α - a_n</a:t>
            </a:r>
            <a:br/>
            <a:r>
              <a:t>Measures the statistical shortfall in nominal coverage</a:t>
            </a:r>
          </a:p>
          <a:p>
            <a:pPr>
              <a:spcBef>
                <a:spcPts val="800"/>
              </a:spcBef>
              <a:defRPr sz="1000" b="1">
                <a:solidFill>
                  <a:srgbClr val="D97706"/>
                </a:solidFill>
              </a:defRPr>
            </a:pPr>
            <a:r>
              <a:t>2. Non-Linear Dead-Band Governor: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c_DB(n) = clip((Δ_n - τ) / (α - τ), 0, 1)</a:t>
            </a:r>
            <a:br/>
            <a:r>
              <a:t>• If Δ_n ≤ τ: Steady state → c_DB = 0</a:t>
            </a:r>
            <a:br/>
            <a:r>
              <a:t>• If Δ_n &gt; τ: Disruption → c_DB &gt; 0</a:t>
            </a:r>
          </a:p>
          <a:p>
            <a:pPr>
              <a:spcBef>
                <a:spcPts val="800"/>
              </a:spcBef>
              <a:defRPr sz="1000" b="1">
                <a:solidFill>
                  <a:srgbClr val="D97706"/>
                </a:solidFill>
              </a:defRPr>
            </a:pPr>
            <a:r>
              <a:t>3. Dynamic Step-Size Law: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μ(n) = μ_min + (μ_max - μ_min) [c_DB(n)]^p</a:t>
            </a:r>
            <a:br/>
            <a:r>
              <a:t>• Steady State: Locks μ(n) = μ_min (Zero Coupling Tax)</a:t>
            </a:r>
            <a:br/>
            <a:r>
              <a:t>• Disruption: Elevates μ(n) → μ_max in &lt; 28 ms</a:t>
            </a:r>
          </a:p>
          <a:p>
            <a:pPr>
              <a:spcBef>
                <a:spcPts val="800"/>
              </a:spcBef>
              <a:defRPr sz="1000" b="1">
                <a:solidFill>
                  <a:srgbClr val="10B981"/>
                </a:solidFill>
              </a:defRPr>
            </a:pPr>
            <a:r>
              <a:t>4. Verified Performance: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Achieves theoretical Wiener / Kalman oracle steady-state floor while matching fast-NLMS tracking speed!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IEEE TRANSACTIONS ON SIGNAL PROCESSING MANUSCRIPT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Procedural Execution Flowchart of CCAF-DB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PHASE 1: SAMPLE INGESTION &amp; ESTIMATION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1: State Initialization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Initialize weights w(0) = 0, causal variance s^2(0) = 1e-4, quantile state a_0 = α (e.g. 0.10).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2: Sample Observation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Receive new input regressor u(n) ∈ R^M and desired target signal d(n).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3: Point Prediction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Compute inner product:</a:t>
            </a:r>
            <a:br/>
            <a:r>
              <a:t>y_hat(n) = w^T(n) u(n)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4: A-Priori Error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Compute instantaneous residual:</a:t>
            </a:r>
            <a:br/>
            <a:r>
              <a:t>e(n) = d(n) - y_hat(n)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5: Output Prediction Interval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Form symmetric 1-α interval:</a:t>
            </a:r>
            <a:br/>
            <a:r>
              <a:t>C(n) = [y_hat(n) ± q_norm(n) s(n-1)]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PHASE 2: CONFORMAL UQ &amp; ACI STATE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6: Causal Nonconformity Score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r(n) = |e(n)| / (s(n-1) + ε)</a:t>
            </a:r>
            <a:br/>
            <a:r>
              <a:t>Strict causality prevents self-normalization of massive bursts.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7: Conformal Miss Detection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m(n) = 1 if r(n) &gt; q_norm(n), else 0.</a:t>
            </a:r>
            <a:br/>
            <a:r>
              <a:t>Records whether target escaped prediction corridor.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8: ACI Quantile Update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a_{n+1} = clip(a_n + γ(α - m(n)), a_min, a_max)</a:t>
            </a:r>
            <a:br/>
            <a:r>
              <a:t>Adapts quantile level based on empirical miscoverage.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Step 9: Deficit Evaluation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Δ_n = α - a_{n+1}</a:t>
            </a:r>
            <a:br/>
            <a:r>
              <a:t>Quantifies the empirical coverage shortage.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PHASE 3: DEAD-BAND STEP-SIZE &amp; UPDATE</a:t>
            </a:r>
          </a:p>
          <a:p>
            <a:pPr>
              <a:spcBef>
                <a:spcPts val="800"/>
              </a:spcBef>
              <a:defRPr sz="1000" b="1">
                <a:solidFill>
                  <a:srgbClr val="D97706"/>
                </a:solidFill>
              </a:defRPr>
            </a:pPr>
            <a:r>
              <a:t>Step 10: Dead-Band Condition Check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Is Deficit (α - a_{n+1}) &gt; τ ?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NO (Steady State): Set c_DB = 0</a:t>
            </a:r>
            <a:br/>
            <a:r>
              <a:t>  → μ(n) = μ_min (Locks minimal-noise misadjustment floor; zero steady-state tax)</a:t>
            </a:r>
            <a:br/>
            <a:br/>
            <a:r>
              <a:t>• YES (Plant Disruption): Set c_DB &gt; 0</a:t>
            </a:r>
            <a:br/>
            <a:r>
              <a:t>  → μ(n) = μ_min + Δμ · c_DB^p (Accelerates tracking convergence to μ_max)</a:t>
            </a:r>
          </a:p>
          <a:p>
            <a:pPr>
              <a:spcBef>
                <a:spcPts val="800"/>
              </a:spcBef>
              <a:defRPr sz="1000" b="1">
                <a:solidFill>
                  <a:srgbClr val="0284C7"/>
                </a:solidFill>
              </a:defRPr>
            </a:pPr>
            <a:r>
              <a:t>Step 11: NLMS Weight Update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w(n+1) = w(n) + μ(n) e(n) u(n) / (ε + ||u(n)||^2)</a:t>
            </a:r>
          </a:p>
          <a:p>
            <a:pPr>
              <a:spcBef>
                <a:spcPts val="800"/>
              </a:spcBef>
              <a:defRPr sz="1000" b="1">
                <a:solidFill>
                  <a:srgbClr val="00E5FF"/>
                </a:solidFill>
              </a:defRPr>
            </a:pPr>
            <a:r>
              <a:t>Step 12: Causal Scale Update &amp; Loop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s^2(n) = β s^2(n-1) + (1-β) e^2(n)</a:t>
            </a:r>
            <a:br/>
            <a:r>
              <a:t>Advance index n ← n + 1 and repeat.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IEEE TRANSACTIONS ON SIGNAL PROCESSING MANUSCRIPT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Formal Theoretical Guarantees and Mathematical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Theorem 1: Distribution-Free Coverage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|(1/T) ∑ m(n) - α| ≤ O(1 / (γ T))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Proves that empirical coverage asymptotically converges to the exact 1-α nominal target (90%) regardless of whether observation noise is Gaussian, Student-t, Laplacian, or impulsive non-stationary.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Theorem 2: Zero Steady-State Coupling Tax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P(c_DB(n) &gt; 0) ≤ exp( - 2 τ^2 / γ 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Proves that false alarms during stationary regimes are exponentially suppressed. Consequently, steady-state excess MSE precisely matches the Wiener / Kalman oracle lower bound without penalty.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Theorem 3: Bounded Re-Adaptation Delay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T_delay ≤ ⌈ (α - a_min + τ) / (γ (1 - α)) ⌉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Proves that following an abrupt acoustic or system plant disruption, the ACI quantile state deterministically drifts downwards, ensuring μ(n) reaches its ceiling μ_max within &lt; 28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Theorem 4: Computational Complexity O(M)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Cost: 2M + 5 FLOPs / sample (133 FLOPs)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Maintains the strict O(M) linear complexity of standard NLMS. Highly suitable for embedded ARM Cortex-M microcontrollers, Android DSPs, and hearing aid ASICs without matrix inversions.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IEEE TRANSACTIONS ON SIGNAL PROCESSING MANUSCRIPT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Multi-Domain Physical Dataset Pipelines: AEC, ECG, and EEG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Domain A: Acoustic Echo Cancellation (AEC)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Aachen Impulse Response (AIR) &amp; Microsoft AEC Challenge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</a:defRPr>
            </a:pPr>
            <a:r>
              <a:t>• Far-end speech x(n) through 64-tap room impulse responses h_o(n)</a:t>
            </a:r>
            <a:br/>
            <a:r>
              <a:t>• Near-end double-talk, enclosure changes, and speaker movement</a:t>
            </a:r>
            <a:br/>
            <a:r>
              <a:t>• Validated Metric: ERLE ≥ 38.6 dB (best-in-class echo cancellation)</a:t>
            </a:r>
            <a:br/>
            <a:r>
              <a:t>• Tracking recovery delay &lt; 28 ms during abrupt plant transitions</a:t>
            </a:r>
            <a:br/>
            <a:r>
              <a:t>• Zero divergence during high-intensity double-talk bursts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Domain B: Biomedical ECG Motion Denoising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PhysioNet MIT-BIH Arrhythmia Database &amp; NSTDB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</a:defRPr>
            </a:pPr>
            <a:r>
              <a:t>• Clinical ECG signals contaminated with severe Electrode Motion (EM)</a:t>
            </a:r>
            <a:br/>
            <a:r>
              <a:t>• Dynamic conformal confidence ribbon C(n) bounds QRS morphology</a:t>
            </a:r>
            <a:br/>
            <a:r>
              <a:t>• Validated Metric: SNR Improvement +9.2 dB over raw recording</a:t>
            </a:r>
            <a:br/>
            <a:r>
              <a:t>• Empirical coverage 90.1% matching nominal 90% confidence target</a:t>
            </a:r>
            <a:br/>
            <a:r>
              <a:t>• Eliminates baseline wander while preserving ST segment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6243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Domain C: Neurological EEG Ocular Removal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EEGdenoiseNet Neural Recording Benchmark (-2 dB SNR)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</a:defRPr>
            </a:pPr>
            <a:r>
              <a:t>• Pre-frontal ocular blink and saccade artifact (EOG) leakage</a:t>
            </a:r>
            <a:br/>
            <a:r>
              <a:t>• Evaluated at extreme negative SNR (-2 dB noise dominance)</a:t>
            </a:r>
            <a:br/>
            <a:r>
              <a:t>• Validated Metric: Relative Root Mean Square Error (RRMSE) ≤ 0.312</a:t>
            </a:r>
            <a:br/>
            <a:r>
              <a:t>• Spectral correlation 0.94 with clean ground-truth neural signals</a:t>
            </a:r>
            <a:br/>
            <a:r>
              <a:t>• Dead-band locks filter during quiet intervals to prevent distortion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IEEE TRANSACTIONS ON SIGNAL PROCESSING MANUSCRIPT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Embedded Publication Figures for Paper &amp; Slide Integration</a:t>
            </a:r>
          </a:p>
        </p:txBody>
      </p:sp>
      <p:pic>
        <p:nvPicPr>
          <p:cNvPr id="4" name="Picture 3" descr="fig_ccaf_architecture_and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Fig. 1 (in paper): Closed-Loop Architecture &amp; Algorithmic Flowchart (300 DPI)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Right-click picture in PowerPoint to 'Save as Picture' or copy-paste directly into IEEE Word/LaTeX manuscript.</a:t>
            </a:r>
          </a:p>
        </p:txBody>
      </p:sp>
      <p:pic>
        <p:nvPicPr>
          <p:cNvPr id="6" name="Picture 5" descr="fig_ccaf_multidomai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3840480" cy="17559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53035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E5FF"/>
                </a:solidFill>
              </a:defRPr>
            </a:pPr>
            <a:r>
              <a:t>Fig. 2: Multi-Domain Application Pipelines (AEC, ECG, EEG)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Illustrates signal flow across physical datasets with quantified benchmark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